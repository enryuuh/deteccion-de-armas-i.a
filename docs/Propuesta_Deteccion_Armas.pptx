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6217920"/>
            <a:ext cx="228600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ADCFC"/>
                </a:solidFill>
                <a:latin typeface="Calibri"/>
              </a:rPr>
              <a:t>PROPUESTA · PROYECTO ACADÉMICO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Sistema de Detección</a:t>
            </a:r>
          </a:p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de Armas con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CADCFC"/>
                </a:solidFill>
                <a:latin typeface="Calibri"/>
              </a:rPr>
              <a:t>Visión por computadora en tiempo real sobre Raspberry Pi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YOLOv8 · NCNN · Edge Computing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Suiza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Recorrido por la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6FEB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002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0195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Por qué detectar armas automáticamente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6FEB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60020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La 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90195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Arquitectura y enfoque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6FEB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774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Tecnologías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Python, YOLOv8, Pi5, NCNN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6FEB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3774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Cómo funciona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Pipeline paso a paso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1089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6FEB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546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Entrenamiento del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4564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Dataset y proceso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10896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6FEB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1546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Anti-alucinaciones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5643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Reducir falsos positivos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886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6FEB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9319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Métricas y resultados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2336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Lo que conseguimos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886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F6FEB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93192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Despliegue y futuro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23367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Pi5 +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Limitaciones de la vigilancia humana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" y="1828800"/>
            <a:ext cx="3566160" cy="3291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007" y="1828800"/>
            <a:ext cx="3566160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" y="22860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0">
                <a:solidFill>
                  <a:srgbClr val="0D2C54"/>
                </a:solidFill>
                <a:latin typeface="Calibri"/>
              </a:rPr>
              <a:t>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D2C54"/>
                </a:solidFill>
                <a:latin typeface="Calibri"/>
              </a:rPr>
              <a:t>Cobertura limitada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327" y="38404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Un operador no puede mirar 20 pantallas a la vez con la misma atención sostenida.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2767" y="1828800"/>
            <a:ext cx="3566160" cy="3291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767" y="1828800"/>
            <a:ext cx="3566160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2767" y="22860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0">
                <a:solidFill>
                  <a:srgbClr val="0D2C54"/>
                </a:solidFill>
                <a:latin typeface="Calibri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087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D2C54"/>
                </a:solidFill>
                <a:latin typeface="Calibri"/>
              </a:rPr>
              <a:t>Fatiga 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7087" y="38404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Tras una hora de turno, la capacidad de detectar anomalías cae drásticamente.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527" y="1828800"/>
            <a:ext cx="3566160" cy="32918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527" y="1828800"/>
            <a:ext cx="3566160" cy="1645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7527" y="22860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0">
                <a:solidFill>
                  <a:srgbClr val="0D2C54"/>
                </a:solidFill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847" y="33832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D2C54"/>
                </a:solidFill>
                <a:latin typeface="Calibri"/>
              </a:rPr>
              <a:t>Tiempo de reacción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1847" y="384048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Entre detectar y avisar pueden pasar segundos críticos en una emergencia.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2C54"/>
                </a:solidFill>
                <a:latin typeface="Calibri"/>
              </a:rPr>
              <a:t>La IA no reemplaza al humano — le da una ventaja: nunca se distrae y reacciona en milisegundos.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Objetivos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General y específicos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5029200" cy="411480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ADCFC"/>
                </a:solidFill>
                <a:latin typeface="Calibri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FFFFF"/>
                </a:solidFill>
                <a:latin typeface="Calibri"/>
              </a:rPr>
              <a:t>Construir un sistema de visión por computadora que detecte armas en tiempo real, con alta fiabilidad, ejecutándose íntegramente en hardware de bajo coste (Raspberry Pi 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Calibri"/>
              </a:rPr>
              <a:t>OBJETIVOS ESPECÍFICOS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148840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01168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Detectar 3 categorías: pistola, arma larga y arma blanca.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834640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69748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Reconocer armas en distintos ángulos (lado, frontal, cenital).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520440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38328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Minimizar falsos positivos sobre objetos confundibles.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206240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06908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Funcionar a 5–10 FPS en Raspberry Pi 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4892040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754880"/>
            <a:ext cx="5760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Procesamiento 100% local — sin internet, sin nube.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Tres bloques que trabajan en conjunto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8007" y="173736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0" b="1">
                <a:solidFill>
                  <a:srgbClr val="CADCFC"/>
                </a:solidFill>
                <a:latin typeface="Calibr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8007" y="3429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D2C54"/>
                </a:solidFill>
                <a:latin typeface="Calibri"/>
              </a:rPr>
              <a:t>Captura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4023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>Cámara USB o módulo CSI conectada a la Pi5. Captura video continuo.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2455" y="237744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2767" y="173736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0" b="1">
                <a:solidFill>
                  <a:srgbClr val="CADCFC"/>
                </a:solidFill>
                <a:latin typeface="Calibri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2767" y="3429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D2C54"/>
                </a:solidFill>
                <a:latin typeface="Calibri"/>
              </a:rPr>
              <a:t>Inferencia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087" y="4023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>Modelo YOLOv8 nano analiza cada frame en ~100 ms y devuelve detecciones.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215" y="2377440"/>
            <a:ext cx="228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7527" y="1737360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0" b="1">
                <a:solidFill>
                  <a:srgbClr val="CADCFC"/>
                </a:solidFill>
                <a:latin typeface="Calibri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527" y="342900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D2C54"/>
                </a:solidFill>
                <a:latin typeface="Calibri"/>
              </a:rPr>
              <a:t>Respuesta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847" y="402336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>Si la confianza supera el umbral, alerta inmediata: guarda evidencia y notifica.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486400"/>
            <a:ext cx="10972800" cy="7772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D2C54"/>
                </a:solidFill>
                <a:latin typeface="Calibri"/>
              </a:rPr>
              <a:t>Todo el procesamiento es LOCAL en la Pi5. Sin nube, sin internet, sin riesgo de privacidad.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Tecnologías utilizadas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Stack open source de la industria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44855" y="1645920"/>
            <a:ext cx="109728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4583" y="1645920"/>
            <a:ext cx="3547872" cy="2011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4895" y="18745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D2C54"/>
                </a:solidFill>
                <a:latin typeface="Calibri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4895" y="251460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Lenguaje principal — el estándar en 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67047" y="1645920"/>
            <a:ext cx="109728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6775" y="1645920"/>
            <a:ext cx="3547872" cy="2011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7087" y="18745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D2C54"/>
                </a:solidFill>
                <a:latin typeface="Calibri"/>
              </a:rPr>
              <a:t>YOLOv8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251460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Modelo de detección en tiempo real, una sola pasada.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9239" y="1645920"/>
            <a:ext cx="109728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8967" y="1645920"/>
            <a:ext cx="3547872" cy="2011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9279" y="18745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D2C54"/>
                </a:solidFill>
                <a:latin typeface="Calibri"/>
              </a:rPr>
              <a:t>Ultralytics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9279" y="251460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Librería para entrenar/inferir/exportar YOLOv8.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855" y="3858768"/>
            <a:ext cx="109728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4583" y="3858768"/>
            <a:ext cx="3547872" cy="2011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895" y="408736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D2C54"/>
                </a:solidFill>
                <a:latin typeface="Calibri"/>
              </a:rPr>
              <a:t>PyTorch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" y="4727448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Motor matemático bajo YOLO — operaciones de la red neuronal.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047" y="3858768"/>
            <a:ext cx="109728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6775" y="3858768"/>
            <a:ext cx="3547872" cy="2011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7087" y="408736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D2C54"/>
                </a:solidFill>
                <a:latin typeface="Calibri"/>
              </a:rPr>
              <a:t>OpenCV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7087" y="4727448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Captura de cámara, dibujo de cajas, guardado de frames.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9239" y="3858768"/>
            <a:ext cx="109728" cy="2011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8967" y="3858768"/>
            <a:ext cx="3547872" cy="20116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9279" y="408736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D2C54"/>
                </a:solidFill>
                <a:latin typeface="Calibri"/>
              </a:rPr>
              <a:t>ONNX + NCNN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9279" y="4727448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Formatos optimizados. NCNN ejecuta en Pi5 2-3× más rápido.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¿Por qué Raspberry Pi 5?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Hardware modesto, resultados profesionales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3999" y="1920240"/>
            <a:ext cx="2697480" cy="329184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3999" y="237744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80 €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999" y="37490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ADCFC"/>
                </a:solidFill>
                <a:latin typeface="Calibri"/>
              </a:rPr>
              <a:t>COSTE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599" y="42976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vs ~1.000 € PC con 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6071" y="1920240"/>
            <a:ext cx="2697480" cy="329184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6071" y="237744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~10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6071" y="37490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ADCFC"/>
                </a:solidFill>
                <a:latin typeface="Calibri"/>
              </a:rPr>
              <a:t>CONSUMO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4671" y="42976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vs ~80 W PC dedicado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8143" y="1920240"/>
            <a:ext cx="2697480" cy="329184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8143" y="237744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5–7 FPS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8143" y="37490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ADCFC"/>
                </a:solidFill>
                <a:latin typeface="Calibri"/>
              </a:rPr>
              <a:t>VELOCIDAD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42976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en inferencia con YOLOv8n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40215" y="1920240"/>
            <a:ext cx="2697480" cy="329184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0215" y="237744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215" y="37490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ADCFC"/>
                </a:solidFill>
                <a:latin typeface="Calibri"/>
              </a:rPr>
              <a:t>PRIVACIDAD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8815" y="429768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todo el procesamiento on-device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A6C82"/>
                </a:solidFill>
                <a:latin typeface="Calibri"/>
              </a:rPr>
              <a:t>Procesador ARM Cortex-A76 de 4 núcleos a 2.4 GHz · 4 u 8 GB de 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El flujo de datos, de la cámara a la alerta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6590" y="2011680"/>
            <a:ext cx="1874519" cy="2377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6590" y="2011680"/>
            <a:ext cx="1874519" cy="45720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590" y="20574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590" y="260604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0">
                <a:solidFill>
                  <a:srgbClr val="0D2C54"/>
                </a:solidFill>
                <a:latin typeface="Calibr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590" y="34747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2C54"/>
                </a:solidFill>
                <a:latin typeface="Calibri"/>
              </a:rPr>
              <a:t>Cámara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590" y="384048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Video 30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9397" y="28346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6FEB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72589" y="2011680"/>
            <a:ext cx="1874519" cy="2377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2589" y="2011680"/>
            <a:ext cx="1874519" cy="45720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2589" y="20574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PASO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2589" y="260604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0">
                <a:solidFill>
                  <a:srgbClr val="0D2C54"/>
                </a:solidFill>
                <a:latin typeface="Calibri"/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2589" y="34747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2C54"/>
                </a:solidFill>
                <a:latin typeface="Calibri"/>
              </a:rPr>
              <a:t>Preprocesa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2589" y="384048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Redim. 416×416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5396" y="28346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6FEB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8588" y="2011680"/>
            <a:ext cx="1874519" cy="2377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8588" y="2011680"/>
            <a:ext cx="1874519" cy="45720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8588" y="20574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PASO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8588" y="260604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0">
                <a:solidFill>
                  <a:srgbClr val="0D2C54"/>
                </a:solidFill>
                <a:latin typeface="Calibri"/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8588" y="34747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2C54"/>
                </a:solidFill>
                <a:latin typeface="Calibri"/>
              </a:rPr>
              <a:t>YOLOv8n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8588" y="384048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Inferencia ~100ms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1395" y="28346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6FEB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44587" y="2011680"/>
            <a:ext cx="1874519" cy="2377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44587" y="2011680"/>
            <a:ext cx="1874519" cy="45720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4587" y="20574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PASO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4587" y="260604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0">
                <a:solidFill>
                  <a:srgbClr val="0D2C54"/>
                </a:solidFill>
                <a:latin typeface="Calibri"/>
              </a:rPr>
              <a:t>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4587" y="34747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2C54"/>
                </a:solidFill>
                <a:latin typeface="Calibri"/>
              </a:rPr>
              <a:t>Filtro NMS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4587" y="384048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conf ≥ 0.5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7394" y="28346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1F6FEB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30586" y="2011680"/>
            <a:ext cx="1874519" cy="2377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30586" y="2011680"/>
            <a:ext cx="1874519" cy="45720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0586" y="205740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PASO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0586" y="2606040"/>
            <a:ext cx="187451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0">
                <a:solidFill>
                  <a:srgbClr val="0D2C54"/>
                </a:solidFill>
                <a:latin typeface="Calibri"/>
              </a:rPr>
              <a:t>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0586" y="34747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2C54"/>
                </a:solidFill>
                <a:latin typeface="Calibri"/>
              </a:rPr>
              <a:t>Alerta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0586" y="3840480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5A6C82"/>
                </a:solidFill>
                <a:latin typeface="Calibri"/>
              </a:rPr>
              <a:t>Caja + 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>Cada frame se procesa de forma independiente — el sistema no necesita memoria del pasado.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F6FEB"/>
                </a:solidFill>
                <a:latin typeface="Calibri"/>
              </a:rPr>
              <a:t>Total: ~150-200 ms por frame  →  5-7 FPS reales en Pi5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Cómo funciona,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Qué hace el sistema cuando aparece un arma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600200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55448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Captura de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93852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La cámara entrega una imagen a la Pi5 a 30 FPS. OpenCV la lee como matriz de píxeles.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542032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963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Preprocesamiento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88036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Se redimensiona a 416×416 y se normalizan los valores de píxel (0–1).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483864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438144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Inferencia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2219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YOLOv8n analiza la imagen y devuelve cajas, clases y confianzas en ~100 ms.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425696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37997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Filtros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764024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Se descartan detecciones débiles (conf &lt; 0.5) y cajas duplicadas (NMS).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5367528"/>
            <a:ext cx="731520" cy="731520"/>
          </a:xfrm>
          <a:prstGeom prst="ellipse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321808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Respuesta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70585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Se dibuja la caja, se guarda el frame de evidencia y se registra la alerta.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El modelo de IA: cómo se entrena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Aprendizaje supervisado con miles de ejemplos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D2C54"/>
                </a:solidFill>
                <a:latin typeface="Calibri"/>
              </a:rPr>
              <a:t>Aprende por ejemplos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5943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>Al modelo se le muestran miles de imágenes etiquetadas con cajas indicando dónde está cada arma.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>Durante 30 épocas, ajusta millones de pesos internos para minimizar el error entre lo que predice y la etiqueta real.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A1F29"/>
                </a:solidFill>
                <a:latin typeface="Calibri"/>
              </a:rPr>
              <a:t>Tras el entrenamiento, generaliza: detecta armas en imágenes que nunca vio.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691640"/>
            <a:ext cx="4663440" cy="411480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20116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35.842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1031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imágenes en el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770632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862072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categorías (knife / handgun / long_gun)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529584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621024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épocas de entrenamiento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288536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~1.5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379976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entrenando el modelo nano (RTX 4060)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047488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3 M / 11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138928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parámetros nano / small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Estrategia anti-alucinaciones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Evitar que el modelo confunda objetos cotidianos con armas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10972800" cy="7315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D2C54"/>
                </a:solidFill>
                <a:latin typeface="Calibri"/>
              </a:rPr>
              <a:t>Falso positivo = el modelo cree ver un arma donde hay un móvil, mando, paraguas o bolsa. En un stand, eso destruiría la fiabilidad.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2697480"/>
            <a:ext cx="3657600" cy="2560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" y="2697480"/>
            <a:ext cx="36576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287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TÁCTICA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3383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D2C54"/>
                </a:solidFill>
                <a:latin typeface="Calibri"/>
              </a:rPr>
              <a:t>Hard negatives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607" y="39776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2.500 imágenes de objetos parecidos PERO sin armas se añaden al entrenamiento.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7047" y="2697480"/>
            <a:ext cx="3657600" cy="2560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7047" y="2697480"/>
            <a:ext cx="36576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047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TÁCTICA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5647" y="3383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D2C54"/>
                </a:solidFill>
                <a:latin typeface="Calibri"/>
              </a:rPr>
              <a:t>Penalización extra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1367" y="39776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El componente cls de la loss se sube de 0.5 a 1.0 — castiga el doble los falsos positivos.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61807" y="2697480"/>
            <a:ext cx="3657600" cy="256032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1807" y="2697480"/>
            <a:ext cx="365760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807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TÁCTICA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407" y="33832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D2C54"/>
                </a:solidFill>
                <a:latin typeface="Calibri"/>
              </a:rPr>
              <a:t>Umbral alto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397764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En despliegue se exige conf ≥ 0.5 (en lugar del 0.25 por defecto).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5321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Calibri"/>
              </a:rPr>
              <a:t>Resultado: precisión del nano +2.4 puntos porcentuales — muchas menos falsas alarmas.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Métricas de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Lo que el modelo realmente consigue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737360"/>
            <a:ext cx="1371600" cy="64008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373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737360"/>
            <a:ext cx="1371600" cy="64008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7373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Parámetros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737360"/>
            <a:ext cx="1371600" cy="64008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7373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mAP@50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737360"/>
            <a:ext cx="1371600" cy="64008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7373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Precisión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737360"/>
            <a:ext cx="1371600" cy="64008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7373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2286000" cy="64008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Plataforma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2377440"/>
            <a:ext cx="137160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2C54"/>
                </a:solidFill>
                <a:latin typeface="Calibri"/>
              </a:rPr>
              <a:t>Nano v4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377440"/>
            <a:ext cx="137160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3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2377440"/>
            <a:ext cx="137160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Calibri"/>
              </a:rPr>
              <a:t>0.852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94960" y="2377440"/>
            <a:ext cx="137160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Calibri"/>
              </a:rPr>
              <a:t>0.875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377440"/>
            <a:ext cx="137160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3774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Calibri"/>
              </a:rPr>
              <a:t>0.758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2377440"/>
            <a:ext cx="2286000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3774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Raspberry Pi 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30175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30175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D2C54"/>
                </a:solidFill>
                <a:latin typeface="Calibri"/>
              </a:rPr>
              <a:t>Small v4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0175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30175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11 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30175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30175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Calibri"/>
              </a:rPr>
              <a:t>0.879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94960" y="30175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30175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Calibri"/>
              </a:rPr>
              <a:t>0.879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30175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301752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F6FEB"/>
                </a:solidFill>
                <a:latin typeface="Calibri"/>
              </a:rPr>
              <a:t>0.792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017520"/>
            <a:ext cx="22860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30175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1A1F29"/>
                </a:solidFill>
                <a:latin typeface="Calibri"/>
              </a:rPr>
              <a:t>PC con GPU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3840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D2C54"/>
                </a:solidFill>
                <a:latin typeface="Calibri"/>
              </a:rPr>
              <a:t>Lectura clave del nano (Pi5):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2287" y="4434840"/>
            <a:ext cx="3657600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2287" y="4572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1F6FEB"/>
                </a:solidFill>
                <a:latin typeface="Calibri"/>
              </a:rPr>
              <a:t>87.5 %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6607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de las veces que dice "arma" acierta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7047" y="4434840"/>
            <a:ext cx="3657600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7047" y="4572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1F6FEB"/>
                </a:solidFill>
                <a:latin typeface="Calibri"/>
              </a:rPr>
              <a:t>75.8 %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1367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de las armas reales son detectadas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61807" y="4434840"/>
            <a:ext cx="3657600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61807" y="45720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1F6FEB"/>
                </a:solidFill>
                <a:latin typeface="Calibri"/>
              </a:rPr>
              <a:t>5-7 FPS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6127" y="5440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velocidad en Raspberry Pi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Despliegue en Raspberry Pi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Del modelo entrenado a la cámara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D2C54"/>
                </a:solidFill>
                <a:latin typeface="Calibri"/>
              </a:rPr>
              <a:t>Pasos de despliegue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33172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331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Exportar el modelo nano a NCNN (formato optimizado ARM)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92608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92608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Copiar la carpeta (~12 MB) a la Pi5 vía SCP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52044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2044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Instalar dependencias en la Pi5 (ultralytics + ncnn)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411480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1480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Conectar cámara USB / módulo CSI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7091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709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Lanzar el script de inferencia con conf=0.5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691640"/>
            <a:ext cx="4663440" cy="4114800"/>
          </a:xfrm>
          <a:prstGeom prst="rect">
            <a:avLst/>
          </a:prstGeom>
          <a:solidFill>
            <a:srgbClr val="0D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87451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ADCFC"/>
                </a:solidFill>
                <a:latin typeface="Calibri"/>
              </a:rPr>
              <a:t>COMANDO EN LA Pi5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2062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Consolas"/>
              </a:rPr>
              <a:t>yolo predict \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Consolas"/>
              </a:rPr>
              <a:t>  model=best_ncnn_model \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Consolas"/>
              </a:rPr>
              <a:t>  imgsz=416 \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Consolas"/>
              </a:rPr>
              <a:t>  source=0 \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FFF"/>
                </a:solidFill>
                <a:latin typeface="Consolas"/>
              </a:rPr>
              <a:t>  conf=0.5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84632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source=0 → cámara conectada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conf=0.5 → umbral anti-alucinaciones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Limitaciones honestas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Lo que el sistema NO puede hacer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" y="1691640"/>
            <a:ext cx="5486400" cy="1280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8007" y="1691640"/>
            <a:ext cx="91440" cy="1280160"/>
          </a:xfrm>
          <a:prstGeom prst="rect">
            <a:avLst/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327" y="1874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Armas a gran distancia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27" y="22860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F29"/>
                </a:solidFill>
                <a:latin typeface="Calibri"/>
              </a:rPr>
              <a:t>Si la pistola ocupa menos de 20×20 píxeles, la detección no es fiable.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87287" y="1691640"/>
            <a:ext cx="5486400" cy="1280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1691640"/>
            <a:ext cx="91440" cy="1280160"/>
          </a:xfrm>
          <a:prstGeom prst="rect">
            <a:avLst/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1874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Oclusiones parciales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22860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F29"/>
                </a:solidFill>
                <a:latin typeface="Calibri"/>
              </a:rPr>
              <a:t>Un arma oculta bajo chaqueta o dentro del bolsillo no es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8007" y="3108960"/>
            <a:ext cx="5486400" cy="1280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8007" y="3108960"/>
            <a:ext cx="91440" cy="1280160"/>
          </a:xfrm>
          <a:prstGeom prst="rect">
            <a:avLst/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327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Iluminación extrema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327" y="37033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F29"/>
                </a:solidFill>
                <a:latin typeface="Calibri"/>
              </a:rPr>
              <a:t>Escenas muy oscuras o con contraluces fuertes degradan el rendimiento.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3108960"/>
            <a:ext cx="5486400" cy="1280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3108960"/>
            <a:ext cx="91440" cy="1280160"/>
          </a:xfrm>
          <a:prstGeom prst="rect">
            <a:avLst/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Latencia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7" y="370332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F29"/>
                </a:solidFill>
                <a:latin typeface="Calibri"/>
              </a:rPr>
              <a:t>Si el arma aparece y desaparece en &lt;100 ms, puede no detectarse.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8007" y="4526280"/>
            <a:ext cx="5486400" cy="1280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007" y="4526280"/>
            <a:ext cx="91440" cy="1280160"/>
          </a:xfrm>
          <a:prstGeom prst="rect">
            <a:avLst/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327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Armas no convencionales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327" y="51206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F29"/>
                </a:solidFill>
                <a:latin typeface="Calibri"/>
              </a:rPr>
              <a:t>El modelo no reconoce armas caseras, replicas raras o disfraces.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287" y="4526280"/>
            <a:ext cx="5486400" cy="12801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7287" y="4526280"/>
            <a:ext cx="91440" cy="1280160"/>
          </a:xfrm>
          <a:prstGeom prst="rect">
            <a:avLst/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607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No sustituye al humano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51206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A1F29"/>
                </a:solidFill>
                <a:latin typeface="Calibri"/>
              </a:rPr>
              <a:t>Es una capa de apoyo al operador, no un reemplazo.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3152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058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D2C54"/>
                </a:solidFill>
                <a:latin typeface="Calibri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C82"/>
                </a:solidFill>
                <a:latin typeface="Calibri"/>
              </a:rPr>
              <a:t>Hoja de ruta tras esta propuesta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Adaptación al escenario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Capturar 50-100 frames del stand y reentrenar para ajustar al contexto específico.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24328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Tracking entre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3580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Confirmar detecciones con persistencia temporal — reduce alertas momentáneas.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557016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0273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Integración con notificaciones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68496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Conectar con Telegram, email o panel web para alertas remotas.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489704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354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Cuantización INT8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0118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Acelerar aún más la inferencia en Pi5 con pérdida mínima de precisión.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422392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681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D2C54"/>
                </a:solidFill>
                <a:latin typeface="Calibri"/>
              </a:rPr>
              <a:t>Reconocimiento de comportamiento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33872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F29"/>
                </a:solidFill>
                <a:latin typeface="Calibri"/>
              </a:rPr>
              <a:t>No solo el objeto: apuntar, blandir, ocultar — análisis de pose y acción.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Propuesta · Detección de Armas con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A6C82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C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ADCFC"/>
                </a:solidFill>
                <a:latin typeface="Calibri"/>
              </a:rPr>
              <a:t>EN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Detección de armas con IA,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Calibri"/>
              </a:rPr>
              <a:t>fiable y al alcance.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287" y="4114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6FEB"/>
                </a:solidFill>
                <a:latin typeface="Calibri"/>
              </a:rPr>
              <a:t>Fiabilidad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167" y="47548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87.5% precisión, anti-alucinaciones activas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047" y="4114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6FEB"/>
                </a:solidFill>
                <a:latin typeface="Calibri"/>
              </a:rPr>
              <a:t>Accesibilidad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9927" y="47548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Corre en hardware de 80 €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1807" y="411480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6FEB"/>
                </a:solidFill>
                <a:latin typeface="Calibri"/>
              </a:rPr>
              <a:t>Privacidad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4687" y="47548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100% local, sin nube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Gracias.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CADCFC"/>
                </a:solidFill>
                <a:latin typeface="Calibri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